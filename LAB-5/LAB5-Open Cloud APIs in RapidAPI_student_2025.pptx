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309" r:id="rId7"/>
    <p:sldId id="311" r:id="rId8"/>
    <p:sldId id="312" r:id="rId9"/>
    <p:sldId id="323" r:id="rId10"/>
    <p:sldId id="313" r:id="rId11"/>
    <p:sldId id="314" r:id="rId12"/>
    <p:sldId id="335" r:id="rId13"/>
    <p:sldId id="326" r:id="rId14"/>
    <p:sldId id="329" r:id="rId15"/>
    <p:sldId id="336" r:id="rId16"/>
    <p:sldId id="337" r:id="rId17"/>
    <p:sldId id="298" r:id="rId18"/>
    <p:sldId id="316" r:id="rId19"/>
    <p:sldId id="303" r:id="rId20"/>
    <p:sldId id="317" r:id="rId21"/>
    <p:sldId id="332" r:id="rId22"/>
    <p:sldId id="334" r:id="rId23"/>
    <p:sldId id="300" r:id="rId24"/>
    <p:sldId id="338" r:id="rId25"/>
    <p:sldId id="322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25" autoAdjust="0"/>
    <p:restoredTop sz="94660"/>
  </p:normalViewPr>
  <p:slideViewPr>
    <p:cSldViewPr snapToGrid="0">
      <p:cViewPr varScale="1">
        <p:scale>
          <a:sx n="90" d="100"/>
          <a:sy n="90" d="100"/>
        </p:scale>
        <p:origin x="42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7:59:07.5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24561,'7373'0'0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0T07:59:07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1 130 24575,'80'1'0,"87"-3"0,-107-6 0,-34 4 0,47-1 0,1250 5 0,-1246-10 0,-31 2 0,-7 3 0,0-1 0,60 0 0,-63 6 0,-1-2 0,57-10 0,-58 8 0,1 1 0,59 3 0,-60 2 0,-1-2 0,68-9 0,-50 2 0,1 3 0,0 2 0,57 5 0,-3 0 0,2293-3 0,-2222-19 0,-129 20 0,-19 1 0,0-2 0,-1-2 0,56-8 0,-45 5 0,1 1 0,-1 3 0,43 3 0,-59-1 0,-45 0 0,-1 2 0,1 0 0,-23 7 0,-48 6 0,-203 23 0,225-31 0,-47 0 0,84-8 0,-7-1 0,-1 1 0,-71 12 0,84-8 0,-1-1 0,-34-2 0,34-1 0,0 2 0,-34 5 0,12 0 0,1-3 0,-1-2 0,-57-5 0,3 0 0,53 3 0,50 0 0,6 0 0,28 0 0,1827 0 0,-1850 0 0,-1 0 0,0 1 0,0 0 0,0 1 0,0-1 0,0 1 0,11 5 0,-64-3 0,-108-2 0,-154-5 0,227-5 0,-53-1 0,63 10 0,-104-3 0,175 3 0,-1-1 0,0 0 0,0 0 0,0 0 0,0 0 0,1 0 0,-1 0 0,0 0 0,0 0 0,0 0 0,1 0 0,-1-1 0,0 1 0,0 0 0,0 0 0,1-1 0,-1 1 0,0-1 0,1 1 0,-1-1 0,0 1 0,1-1 0,-1 1 0,0-1 0,0-1 0,18-8 0,35-4 0,-11 9 0,-21 3 0,-1 0 0,0-2 0,31-9 0,-28 7 0,1 1 0,0 0 0,44-1 0,-14 1 0,23 1 0,-53 4 0,-1-1 0,44-8 0,-44 5 0,0 2 0,0 0 0,35 1 0,-35 2 0,0-1 0,0-1 0,37-7 0,-24 2 0,0 2 0,1 1 0,-1 2 0,46 5 0,7-1 0,-58-2 0,1 1 0,35 8 0,-2-7 0,-54-3 0,1 0 0,0 0 0,-1 1 0,1 0 0,19 5 0,-29-2 0,-11-1 0,-28 4 0,14-3 0,-56 17 0,41-9 0,0-2 0,-1-2 0,-55 5 0,70-11 0,1 1 0,-35 10 0,-27 4 0,-73 1 0,153-17 0,-1 0 0,0 0 0,1 1 0,0 0 0,-12 4 0,64-1 0,-21-6 0,0-1 0,-1-1 0,1-2 0,40-12 0,-40 12 0,0 0 0,46-1 0,3 0 0,23 0 0,-68 6 0,56-9 0,-33 3 0,0 2 0,0 2 0,57 5 0,-3-1 0,-67-2 0,1-2 0,43-9 0,-34 6 0,0 1 0,85 6 0,-34 1 0,-90-3 0,-7-1 0,0 1 0,0 0 0,0-1 0,0 1 0,0 1 0,0-1 0,0 0 0,0 1 0,0 0 0,0-1 0,0 1 0,-1 0 0,6 3 0,-8-4 0,0 1 0,-1-1 0,1 1 0,0-1 0,0 0 0,-1 1 0,1-1 0,0 1 0,0-1 0,-1 0 0,1 1 0,0-1 0,-1 0 0,1 1 0,-1-1 0,1 0 0,0 0 0,-1 0 0,1 1 0,-1-1 0,1 0 0,0 0 0,-1 0 0,1 0 0,-1 0 0,1 1 0,-1-1 0,1 0 0,-1 0 0,1 0 0,-1 0 0,1-1 0,-1 1 0,1 0 0,-21 3 0,-379 0 0,203-6 0,117 3 0,5-2 0,-129 15 0,123-5 0,-1-4 0,-85-6 0,34-1 0,77 4 0,12 0 0,0-2 0,-76-11 0,92 8 0,-50 0 0,49 3 0,-47-7 0,24 1 0,-1 3 0,1 2 0,-56 5 0,2 0 0,58-3 0,-1-2 0,-52-10 0,53 7 0,-2 2 0,-83 5 0,33 0 0,-1487-2 0,1446-19 0,-54 2 0,166 16 0,0-1 0,-40-8 0,30 6 5,-1 1-1,-65 4 0,29 1-1382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29F81-99EB-46D7-8A68-7BB8815CCDF2}" type="datetimeFigureOut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1995C-9F9C-42A3-99FD-FC5A8B9736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2521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742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06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7208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57980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2013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7981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1995C-9F9C-42A3-99FD-FC5A8B9736C2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38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9F016-B20F-407E-9245-350D9350EF1C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6808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19457-DD67-49B5-A4AA-3100394C67F7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37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4A3AF-C416-468E-906B-9AEA7EE8284F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829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B9B4D4-52BA-46EE-9B96-C66470DD037F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06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1C06A-09AF-4B6F-B077-F93FDE28CF4E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472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45750E-46A9-4A30-84A0-6828A5008B28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8461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D2795-3747-4DB5-864D-F5C93D7C8E6D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7200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099E9-B377-4443-8701-5E4907B0A536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990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AC8D-EAB4-470F-BB5C-CBE4AE61D8DF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79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2338D-50D5-435A-A771-F988089E3A87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7938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AC0-0EE2-424A-8601-73E8B5F3CC5E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328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2EB77-3699-4B04-B5C3-0C8F7D17F623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12715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DA08F-F731-4F01-B63F-00F9D804656E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6613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9284F-F92F-4991-9823-F313CD8EE6B4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84995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45663-9917-453C-8EA7-DE017B70BC08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72761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32522-AFB2-4003-B339-6E7E1657EFFA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160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C4A12-AA96-4A0B-8456-2B03D5CCF8B7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819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7F3050A-5254-4FF4-8B6C-98F3AF5ABD0F}" type="datetime1">
              <a:rPr lang="zh-TW" altLang="en-US" smtClean="0"/>
              <a:t>2025/11/5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8226" y="6356350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8AB8BC42-115C-434A-A5A4-6B7E99A71104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0466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hyperlink" Target="https://rapidapi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rapidapi.com/wirefreethought/api/geodb-citie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apidapi.com/wirefreethought/api/geodb-citie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customXml" Target="../ink/ink2.xml"/><Relationship Id="rId2" Type="http://schemas.openxmlformats.org/officeDocument/2006/relationships/hyperlink" Target="https://rapidapi.com/weatherapi/api/weatherapi-com/playground/apiendpoint_bef542ef-a177-4633-aacc-ee9703945037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customXml" Target="../ink/ink1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apidapi.com/weatherapi/api/weatherapi-com/playground/apiendpoint_bef542ef-a177-4633-aacc-ee9703945037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apidapi.com/martin.svoboda/api/quotes15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rapidapi.com/martin.svoboda/api/quotes15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17">
            <a:extLst>
              <a:ext uri="{FF2B5EF4-FFF2-40B4-BE49-F238E27FC236}">
                <a16:creationId xmlns:a16="http://schemas.microsoft.com/office/drawing/2014/main" id="{AE94ADDC-FBCA-4838-8D97-4B0770AFC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EDB06F6B-6027-4B19-829E-EEDE91726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1">
            <a:extLst>
              <a:ext uri="{FF2B5EF4-FFF2-40B4-BE49-F238E27FC236}">
                <a16:creationId xmlns:a16="http://schemas.microsoft.com/office/drawing/2014/main" id="{F0CA11D6-C4F1-476E-8455-2C26DEDE9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78"/>
          <a:stretch/>
        </p:blipFill>
        <p:spPr>
          <a:xfrm>
            <a:off x="-2607" y="0"/>
            <a:ext cx="12192000" cy="3053351"/>
          </a:xfrm>
          <a:prstGeom prst="rect">
            <a:avLst/>
          </a:prstGeom>
        </p:spPr>
      </p:pic>
      <p:pic>
        <p:nvPicPr>
          <p:cNvPr id="31" name="Picture 23">
            <a:extLst>
              <a:ext uri="{FF2B5EF4-FFF2-40B4-BE49-F238E27FC236}">
                <a16:creationId xmlns:a16="http://schemas.microsoft.com/office/drawing/2014/main" id="{90717727-6E80-4D56-AF23-9E0AE1D5A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64" t="46543"/>
          <a:stretch/>
        </p:blipFill>
        <p:spPr>
          <a:xfrm>
            <a:off x="8500434" y="3191932"/>
            <a:ext cx="3686351" cy="3666067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35211" y="4562855"/>
            <a:ext cx="10916365" cy="1137554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5 - </a:t>
            </a:r>
            <a:r>
              <a:rPr lang="en-US" altLang="zh-TW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Open Cloud APIs in </a:t>
            </a:r>
            <a:r>
              <a:rPr lang="en-US" altLang="zh-TW" cap="none" dirty="0" err="1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RapidAPI</a:t>
            </a:r>
            <a:endParaRPr lang="zh-TW" altLang="en-US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>
          <a:xfrm>
            <a:off x="10514011" y="6354825"/>
            <a:ext cx="76421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AB8BC42-115C-434A-A5A4-6B7E99A71104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spcAft>
                  <a:spcPts val="600"/>
                </a:spcAft>
              </a:p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D265A986-70E0-45DB-BD4F-09F3CDC76D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360" y="2054701"/>
            <a:ext cx="8188065" cy="227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275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2" y="1302618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What is Cloud API?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51012" y="2057401"/>
            <a:ext cx="8689976" cy="1371599"/>
          </a:xfrm>
        </p:spPr>
        <p:txBody>
          <a:bodyPr>
            <a:normAutofit/>
          </a:bodyPr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開發人員不需要自行開發所需要用到的相關技術，能夠直接透過呼叫存在於雲端伺服器上的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，實現預期的功能。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</a:t>
            </a:fld>
            <a:endParaRPr lang="zh-TW" altLang="en-US" dirty="0"/>
          </a:p>
        </p:txBody>
      </p:sp>
      <p:pic>
        <p:nvPicPr>
          <p:cNvPr id="5" name="圖片 4" descr="一張含有 室外, 標誌, 街道, 坐 的圖片&#10;&#10;自動產生的描述">
            <a:extLst>
              <a:ext uri="{FF2B5EF4-FFF2-40B4-BE49-F238E27FC236}">
                <a16:creationId xmlns:a16="http://schemas.microsoft.com/office/drawing/2014/main" id="{68269FCE-7B3A-4AF2-94BF-22173B778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4091" y="2970145"/>
            <a:ext cx="5957261" cy="375133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097106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2" y="1764003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Why choose Cloud API?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2" y="2669605"/>
            <a:ext cx="10709395" cy="1762695"/>
          </a:xfrm>
        </p:spPr>
        <p:txBody>
          <a:bodyPr anchor="t"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輕巧化</a:t>
            </a:r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開發人員不需要額外安裝過多的函式庫，便能實現預期功能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使用容易</a:t>
            </a:r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透過簡化後的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呼叫方式，能夠在短時間之內上手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縮短開發時程</a:t>
            </a:r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藉由他人已開發完成的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，能夠大幅縮短自身系統所需的開發時間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2567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2" y="1764003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2" y="2669605"/>
            <a:ext cx="10709395" cy="1371599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一張信用卡或具備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VISA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簽證的金融卡</a:t>
            </a: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39560" y="3073422"/>
            <a:ext cx="3706533" cy="23064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9671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01BADEAE-B024-248C-ADBB-586527C08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715" y="1687368"/>
            <a:ext cx="4508146" cy="466898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ADC1B05-B230-BEC9-A56E-A672B19DA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3018609"/>
            <a:ext cx="7536873" cy="2969906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2" y="1764003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45464" y="2438696"/>
            <a:ext cx="10709395" cy="1371599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 startAt="2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前往</a:t>
            </a:r>
            <a:r>
              <a:rPr lang="en-US" altLang="zh-TW" cap="none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4"/>
              </a:rPr>
              <a:t>RapidAPI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4"/>
              </a:rPr>
              <a:t>網站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進行帳號註冊</a:t>
            </a: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5</a:t>
            </a:fld>
            <a:endParaRPr lang="zh-TW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667E99F-18DA-4792-A6B4-59882A2F38B9}"/>
              </a:ext>
            </a:extLst>
          </p:cNvPr>
          <p:cNvSpPr/>
          <p:nvPr/>
        </p:nvSpPr>
        <p:spPr>
          <a:xfrm>
            <a:off x="6705327" y="3018608"/>
            <a:ext cx="406674" cy="2775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2855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122F482E-47ED-6C7E-37F3-281F4A252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2" y="3141396"/>
            <a:ext cx="12192000" cy="2248577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1" y="2243523"/>
            <a:ext cx="10709395" cy="498468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 startAt="3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首頁上方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 Marketplace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，至搜尋列搜尋自己想要使用的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</a:p>
          <a:p>
            <a:pPr algn="l"/>
            <a:endParaRPr lang="zh-TW" altLang="en-US" cap="none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6</a:t>
            </a:fld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260277" y="3141396"/>
            <a:ext cx="874487" cy="3526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8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cap="none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CF93BB4-6287-489A-8D4F-702ACA5DF396}"/>
              </a:ext>
            </a:extLst>
          </p:cNvPr>
          <p:cNvSpPr/>
          <p:nvPr/>
        </p:nvSpPr>
        <p:spPr>
          <a:xfrm>
            <a:off x="4351165" y="3141396"/>
            <a:ext cx="2363671" cy="39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298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9988B93-91C2-E8F7-24DC-8B259EBC2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" y="3848558"/>
            <a:ext cx="12192000" cy="1194161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1" y="2243523"/>
            <a:ext cx="10831574" cy="974316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 startAt="4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Face Detection and Facial Features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為例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可直接利用搜尋列尋找該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API)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，進入該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頁面後，點選</a:t>
            </a:r>
            <a:r>
              <a:rPr lang="en-US" altLang="zh-TW" b="1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Subscribe to Test</a:t>
            </a:r>
            <a:endParaRPr lang="zh-TW" altLang="en-US" b="1" cap="none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7</a:t>
            </a:fld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0646729" y="4361566"/>
            <a:ext cx="1395711" cy="3951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8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cap="none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93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E3BB5163-4CA5-B872-64D5-1BE5F9C74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182" y="3044221"/>
            <a:ext cx="8922326" cy="3906734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1" y="2243523"/>
            <a:ext cx="10831574" cy="97431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5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接著選擇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Free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方案的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Subscribe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，進行訂閱該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的動作，便可開始使用</a:t>
            </a:r>
            <a:b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b="1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免費</a:t>
            </a:r>
            <a:r>
              <a:rPr lang="en-US" altLang="zh-TW" b="1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b="1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可以跳過</a:t>
            </a:r>
            <a:r>
              <a:rPr lang="en-US" altLang="zh-TW" b="1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cap="none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8</a:t>
            </a:fld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202503" y="4763483"/>
            <a:ext cx="1738952" cy="18312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8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cap="none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90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1" y="2243523"/>
            <a:ext cx="10709395" cy="498468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 startAt="6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綁定信用卡資訊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8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cap="none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0F0D2AF-6A33-1E1B-3693-FF7A4E6E0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652" y="2741991"/>
            <a:ext cx="7583055" cy="401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402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圖片 15">
            <a:extLst>
              <a:ext uri="{FF2B5EF4-FFF2-40B4-BE49-F238E27FC236}">
                <a16:creationId xmlns:a16="http://schemas.microsoft.com/office/drawing/2014/main" id="{FE16CF42-E267-6B63-EFFA-5EF65AEEF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931" y="2650450"/>
            <a:ext cx="4908391" cy="4071025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741301" y="2243523"/>
            <a:ext cx="10831574" cy="97431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10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最左側會列出可使用的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Method</a:t>
            </a:r>
            <a:endParaRPr lang="zh-TW" altLang="en-US" cap="none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10</a:t>
            </a:fld>
            <a:endParaRPr lang="zh-TW" altLang="en-US" dirty="0"/>
          </a:p>
        </p:txBody>
      </p:sp>
      <p:sp>
        <p:nvSpPr>
          <p:cNvPr id="10" name="矩形 9"/>
          <p:cNvSpPr/>
          <p:nvPr/>
        </p:nvSpPr>
        <p:spPr>
          <a:xfrm>
            <a:off x="3268979" y="4464413"/>
            <a:ext cx="1356361" cy="5040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8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cap="none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46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828759" y="2032145"/>
            <a:ext cx="10831574" cy="974316"/>
          </a:xfrm>
        </p:spPr>
        <p:txBody>
          <a:bodyPr>
            <a:noAutofit/>
          </a:bodyPr>
          <a:lstStyle/>
          <a:p>
            <a:pPr marL="457200" indent="-457200" algn="l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11"/>
            </a:pP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Code Snippet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旁下拉式選端會列出各種語言的範例，可以更改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的內容</a:t>
            </a:r>
            <a:r>
              <a:rPr lang="en-US" altLang="zh-TW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  <a:r>
              <a:rPr lang="zh-TW" altLang="en-US" cap="none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，下方的程式碼會立即改變，可以藉此觀察各參數的正確使用方式</a:t>
            </a: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11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8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000" b="1" cap="none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How to use?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3710982-3093-2C45-FD24-9F53DEFCC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82" y="3006461"/>
            <a:ext cx="3828826" cy="3678676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C90B4B1-868D-5A1B-A99E-3EC6D1523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308" y="3429000"/>
            <a:ext cx="7662692" cy="2547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068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4DECFA-3C4F-AE73-7AAF-5D2FD3AFC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建立專案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293631-1FA4-EF13-CD39-46A0EAB56C8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EC4996-198B-3628-8869-8D55D5FC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DE104F-7F5E-7BAB-AC2B-CB9D393C6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207" y="2367092"/>
            <a:ext cx="8892853" cy="331891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1C2BB482-43BC-E313-E19A-5808B893DC87}"/>
              </a:ext>
            </a:extLst>
          </p:cNvPr>
          <p:cNvSpPr/>
          <p:nvPr/>
        </p:nvSpPr>
        <p:spPr>
          <a:xfrm>
            <a:off x="4490720" y="2584104"/>
            <a:ext cx="3754119" cy="3191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1445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9D12C628-B729-9633-CB20-B773229CB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05" y="2506362"/>
            <a:ext cx="10530840" cy="283373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13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9"/>
            <a:ext cx="8689976" cy="889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建立專案</a:t>
            </a:r>
          </a:p>
        </p:txBody>
      </p:sp>
      <p:sp>
        <p:nvSpPr>
          <p:cNvPr id="13" name="矩形 12"/>
          <p:cNvSpPr/>
          <p:nvPr/>
        </p:nvSpPr>
        <p:spPr>
          <a:xfrm>
            <a:off x="4475480" y="2766984"/>
            <a:ext cx="3182619" cy="3267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5882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9837F92B-530C-DFBB-C3CB-77FA72C42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26" y="2653725"/>
            <a:ext cx="11475146" cy="2802906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14</a:t>
            </a:fld>
            <a:endParaRPr lang="zh-TW" altLang="en-US" dirty="0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2E7F71DD-8523-457E-B4DC-A5F2A88390D8}"/>
              </a:ext>
            </a:extLst>
          </p:cNvPr>
          <p:cNvSpPr txBox="1">
            <a:spLocks/>
          </p:cNvSpPr>
          <p:nvPr/>
        </p:nvSpPr>
        <p:spPr>
          <a:xfrm>
            <a:off x="1751011" y="1401369"/>
            <a:ext cx="8689976" cy="8892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匯入 </a:t>
            </a:r>
            <a:r>
              <a:rPr lang="en-US" altLang="zh-TW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Library</a:t>
            </a:r>
            <a:endParaRPr lang="zh-TW" altLang="en-US" sz="4000" b="1" cap="none" dirty="0">
              <a:latin typeface="Times New Roman" panose="02020603050405020304" pitchFamily="18" charset="0"/>
              <a:ea typeface="Arial Unicode MS" panose="020B060402020202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B9B00B-CA56-067F-6729-8C416019D627}"/>
              </a:ext>
            </a:extLst>
          </p:cNvPr>
          <p:cNvSpPr/>
          <p:nvPr/>
        </p:nvSpPr>
        <p:spPr>
          <a:xfrm>
            <a:off x="798760" y="3306918"/>
            <a:ext cx="1974920" cy="8231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1927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67FE9B-DA60-BA19-78F0-A4E1194A6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匯入 </a:t>
            </a:r>
            <a:r>
              <a:rPr lang="en-US" altLang="zh-TW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Library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2CAF46A-E19B-1D7C-411D-DB8757D2489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50082" y="2184214"/>
            <a:ext cx="9691836" cy="405526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305CEF-CDC7-2892-7F1F-3601E972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7F6F2D-CC2A-175F-8350-B69D9E0579BF}"/>
              </a:ext>
            </a:extLst>
          </p:cNvPr>
          <p:cNvSpPr/>
          <p:nvPr/>
        </p:nvSpPr>
        <p:spPr>
          <a:xfrm>
            <a:off x="3694360" y="4434678"/>
            <a:ext cx="2698820" cy="14251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97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38D30E-3640-DD8D-B79D-0BCC6C515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4000" b="1" cap="none" dirty="0">
                <a:latin typeface="Times New Roman" panose="02020603050405020304" pitchFamily="18" charset="0"/>
                <a:ea typeface="Arial Unicode MS" panose="020B0604020202020204" pitchFamily="34" charset="-120"/>
                <a:cs typeface="Times New Roman" panose="02020603050405020304" pitchFamily="18" charset="0"/>
              </a:rPr>
              <a:t>練習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A74FB38-16A4-E993-2506-AC1CAD872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943" y="1652680"/>
            <a:ext cx="9976114" cy="489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029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1" y="1315461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  <a:t>Try It</a:t>
            </a:r>
            <a:b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</a:br>
            <a:r>
              <a:rPr lang="en-US" altLang="zh-TW" sz="2800" b="1" cap="none" dirty="0">
                <a:solidFill>
                  <a:srgbClr val="00B0F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  <a:hlinkClick r:id="rId3"/>
              </a:rPr>
              <a:t>GeoDB Cities </a:t>
            </a:r>
            <a:endParaRPr lang="zh-TW" altLang="en-US" sz="2800" cap="none" dirty="0">
              <a:solidFill>
                <a:srgbClr val="00B0F0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17</a:t>
            </a:fld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71AE24-D52C-09EB-9C4A-8465BE092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55206" y="2274650"/>
            <a:ext cx="7266501" cy="458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01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1" y="1315461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  <a:t>Try It</a:t>
            </a:r>
            <a:b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</a:br>
            <a:r>
              <a:rPr lang="en-US" altLang="zh-TW" sz="2800" b="1" cap="none" dirty="0">
                <a:solidFill>
                  <a:srgbClr val="00B0F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  <a:hlinkClick r:id="rId2"/>
              </a:rPr>
              <a:t>GeoDB Cities</a:t>
            </a:r>
            <a:endParaRPr lang="zh-TW" altLang="en-US" sz="2800" b="1" cap="none" dirty="0">
              <a:solidFill>
                <a:srgbClr val="00B0F0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8" name="投影片編號版面配置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18</a:t>
            </a:fld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9E9A4BC1-D70A-4C03-06C2-B262A612B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9785" y="2407062"/>
            <a:ext cx="3252428" cy="44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33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1" y="1315461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  <a:t>Try It</a:t>
            </a:r>
            <a:b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</a:br>
            <a:r>
              <a:rPr lang="en-US" altLang="zh-TW" sz="2800" b="1" u="sng" cap="none" dirty="0">
                <a:solidFill>
                  <a:srgbClr val="00B0F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  <a:hlinkClick r:id="rId2"/>
              </a:rPr>
              <a:t>WeatherAPI</a:t>
            </a:r>
            <a:endParaRPr lang="zh-TW" altLang="en-US" sz="2800" b="1" cap="none" dirty="0">
              <a:solidFill>
                <a:srgbClr val="00B0F0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19</a:t>
            </a:fld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094C99D-B727-3657-CE15-0AFBFEB78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5550" y="2339982"/>
            <a:ext cx="7200900" cy="44304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0CD8FB95-8971-678F-548F-048D3567B29A}"/>
                  </a:ext>
                </a:extLst>
              </p14:cNvPr>
              <p14:cNvContentPartPr/>
              <p14:nvPr/>
            </p14:nvContentPartPr>
            <p14:xfrm>
              <a:off x="5225970" y="4661428"/>
              <a:ext cx="2654640" cy="684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0CD8FB95-8971-678F-548F-048D3567B2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07970" y="4319428"/>
                <a:ext cx="2690280" cy="68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CF8BA945-8077-28BF-DDA1-D7B900BBF347}"/>
                  </a:ext>
                </a:extLst>
              </p14:cNvPr>
              <p14:cNvContentPartPr/>
              <p14:nvPr/>
            </p14:nvContentPartPr>
            <p14:xfrm>
              <a:off x="5200490" y="4671868"/>
              <a:ext cx="2694240" cy="66600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CF8BA945-8077-28BF-DDA1-D7B900BBF34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82490" y="4653868"/>
                <a:ext cx="2729880" cy="1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79653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1" y="1315461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  <a:t>Try It</a:t>
            </a:r>
            <a:b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</a:br>
            <a:r>
              <a:rPr lang="en-US" altLang="zh-TW" sz="2800" b="1" u="sng" cap="none" dirty="0">
                <a:solidFill>
                  <a:srgbClr val="00B0F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  <a:hlinkClick r:id="rId2"/>
              </a:rPr>
              <a:t>WeatherAPI</a:t>
            </a:r>
            <a:endParaRPr lang="zh-TW" altLang="en-US" sz="2800" b="1" cap="none" dirty="0">
              <a:solidFill>
                <a:srgbClr val="00B0F0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20</a:t>
            </a:fld>
            <a:endParaRPr lang="zh-TW" altLang="en-US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38A0DFA-A4F2-A1A3-F589-1C6797F30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959" y="2387600"/>
            <a:ext cx="5173817" cy="42481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1E10FE9D-078C-4CEB-6E28-E06517E07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4828" y="2473325"/>
            <a:ext cx="3291752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78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51011" y="1315461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  <a:t>Try It</a:t>
            </a:r>
            <a:b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</a:br>
            <a:r>
              <a:rPr lang="en-US" altLang="zh-TW" sz="2800" b="1" u="sng" cap="none" dirty="0">
                <a:solidFill>
                  <a:srgbClr val="00B0F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  <a:hlinkClick r:id="rId2"/>
              </a:rPr>
              <a:t>Quotes</a:t>
            </a:r>
            <a:endParaRPr lang="zh-TW" altLang="en-US" sz="2800" b="1" cap="none" dirty="0">
              <a:solidFill>
                <a:srgbClr val="00B0F0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21</a:t>
            </a:fld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DA52B0-0750-7F99-B53A-0C848EA26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466" y="2367795"/>
            <a:ext cx="7001933" cy="450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19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672045" y="945499"/>
            <a:ext cx="8689976" cy="2509213"/>
          </a:xfrm>
        </p:spPr>
        <p:txBody>
          <a:bodyPr anchor="t">
            <a:normAutofit/>
          </a:bodyPr>
          <a:lstStyle/>
          <a:p>
            <a: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  <a:t>Try It</a:t>
            </a:r>
            <a:br>
              <a:rPr lang="en-US" altLang="zh-TW" sz="4000" cap="none" dirty="0"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</a:rPr>
            </a:br>
            <a:r>
              <a:rPr lang="en-US" altLang="zh-TW" sz="2800" b="1" u="sng" cap="none" dirty="0">
                <a:solidFill>
                  <a:srgbClr val="00B0F0"/>
                </a:solidFill>
                <a:latin typeface="Arial" panose="020B0604020202020204" pitchFamily="34" charset="0"/>
                <a:ea typeface="Arial Unicode MS" panose="020B0604020202020204" pitchFamily="34" charset="-120"/>
                <a:cs typeface="Arial" panose="020B0604020202020204" pitchFamily="34" charset="0"/>
                <a:hlinkClick r:id="rId2"/>
              </a:rPr>
              <a:t>Quotes</a:t>
            </a:r>
            <a:endParaRPr lang="zh-TW" altLang="en-US" sz="2800" b="1" cap="none" dirty="0">
              <a:solidFill>
                <a:srgbClr val="00B0F0"/>
              </a:solidFill>
              <a:latin typeface="Arial" panose="020B0604020202020204" pitchFamily="34" charset="0"/>
              <a:ea typeface="Arial Unicode MS" panose="020B060402020202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66"/>
            <a:ext cx="3344091" cy="1098060"/>
          </a:xfrm>
          <a:prstGeom prst="rect">
            <a:avLst/>
          </a:prstGeom>
        </p:spPr>
      </p:pic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22</a:t>
            </a:fld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3B0E0E4-AF15-7A43-36A0-EA5F72747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955" y="2043559"/>
            <a:ext cx="9892090" cy="431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9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練習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71475" y="2108331"/>
            <a:ext cx="11449050" cy="4613144"/>
          </a:xfrm>
        </p:spPr>
        <p:txBody>
          <a:bodyPr>
            <a:noAutofit/>
          </a:bodyPr>
          <a:lstStyle/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TW" altLang="en-US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altLang="zh-TW" sz="2400" b="1" dirty="0">
                <a:solidFill>
                  <a:srgbClr val="111827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Quotes</a:t>
            </a:r>
            <a:r>
              <a:rPr lang="zh-TW" altLang="en-US" sz="240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這個</a:t>
            </a:r>
            <a:r>
              <a:rPr lang="en-US" altLang="zh-TW" sz="240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sz="240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111827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應隨機抓取一句名言，並將其作者與內容格式化輸出。例如： 智慧箴言：</a:t>
            </a:r>
            <a:r>
              <a:rPr lang="en-US" altLang="zh-TW" sz="2400" dirty="0">
                <a:solidFill>
                  <a:srgbClr val="111827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Albert Einstein </a:t>
            </a:r>
            <a:r>
              <a:rPr lang="zh-TW" altLang="en-US" sz="2400" dirty="0">
                <a:solidFill>
                  <a:srgbClr val="111827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曾說過：</a:t>
            </a:r>
            <a:r>
              <a:rPr lang="en-US" altLang="zh-TW" sz="2400" dirty="0">
                <a:solidFill>
                  <a:srgbClr val="111827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"A person who never made a mistake never tried anything new." </a:t>
            </a:r>
            <a:r>
              <a:rPr lang="zh-TW" altLang="en-US" sz="2400" i="0" dirty="0">
                <a:solidFill>
                  <a:srgbClr val="111827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GeoDB Cities 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2400" dirty="0">
                <a:solidFill>
                  <a:srgbClr val="111827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做出以下的題目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4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71550" lvl="1" indent="-514350">
              <a:buFont typeface="Arial" panose="020B0604020202020204" pitchFamily="34" charset="0"/>
              <a:buAutoNum type="circleNumWdWhitePlain"/>
            </a:pPr>
            <a:r>
              <a:rPr lang="zh-TW" altLang="en-US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尋找台灣人口最多的城市，並列出其城市名</a:t>
            </a:r>
            <a:r>
              <a:rPr lang="en-US" altLang="zh-TW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(city)</a:t>
            </a:r>
            <a:r>
              <a:rPr lang="zh-TW" altLang="en-US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、所在地區</a:t>
            </a:r>
            <a:r>
              <a:rPr lang="en-US" altLang="zh-TW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(region)</a:t>
            </a:r>
            <a:r>
              <a:rPr lang="zh-TW" altLang="en-US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、國家</a:t>
            </a:r>
            <a:r>
              <a:rPr lang="en-US" altLang="zh-TW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(country) </a:t>
            </a:r>
            <a:r>
              <a:rPr lang="zh-TW" altLang="en-US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與人口數</a:t>
            </a:r>
            <a:r>
              <a:rPr lang="en-US" altLang="zh-TW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(population)</a:t>
            </a:r>
            <a:r>
              <a:rPr lang="zh-TW" altLang="en-US" sz="22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200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71550" lvl="1" indent="-514350">
              <a:buFont typeface="Wingdings" panose="05000000000000000000" pitchFamily="2" charset="2"/>
              <a:buAutoNum type="circleNumWdWhitePlain"/>
            </a:pPr>
            <a:r>
              <a:rPr lang="zh-TW" altLang="en-US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請將日本</a:t>
            </a:r>
            <a:r>
              <a:rPr lang="en-US" altLang="zh-TW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cap="none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countryIds</a:t>
            </a:r>
            <a:r>
              <a:rPr lang="en-US" altLang="zh-TW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JP) </a:t>
            </a:r>
            <a:r>
              <a:rPr lang="zh-TW" altLang="en-US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所有人口超過 </a:t>
            </a:r>
            <a:r>
              <a:rPr lang="en-US" altLang="zh-TW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 </a:t>
            </a:r>
            <a:r>
              <a:rPr lang="zh-TW" altLang="en-US" sz="2400" cap="none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萬的城市，依照人口數由多到少排列出來，並附上其城市名與人口數。</a:t>
            </a:r>
            <a:endParaRPr lang="en-US" altLang="zh-TW" sz="2400" cap="none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875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EBD33-B498-7D98-0B64-287BAE8D8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3625C8-5908-175F-6DF1-EC057D8AEC4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3" y="2367092"/>
            <a:ext cx="10678151" cy="449090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請結合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GeoDB Cities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WeatherAPI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，實作一個「國際城市天氣預報員」。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程式需完成以下連續任務：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首先，利用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GeoDB Cities API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取得法國首都「巴黎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(Paris)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」的地理座標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緯度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latitude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和經度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longitude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接著，將取得的座標作為參數，傳入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WeatherAPI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來查詢該地的天氣。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AutoNum type="circleNumWdWhitePlain"/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最後，將查詢結果整理後顯示出來，需包含目前攝氏溫度、天氣狀況描述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例如：晴天、多雲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以及當地目前的日期與時間。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</a:p>
          <a:p>
            <a:pPr marL="0" indent="0">
              <a:buNone/>
            </a:pPr>
            <a:r>
              <a:rPr lang="zh-TW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以上實作的結果，都需要截圖。</a:t>
            </a:r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103109-2758-A3FE-58FD-B3BFC8E8D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9198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>
                <a:latin typeface="標楷體" panose="03000509000000000000" pitchFamily="65" charset="-120"/>
                <a:ea typeface="標楷體" panose="03000509000000000000" pitchFamily="65" charset="-120"/>
              </a:rPr>
              <a:t>*練習繳交檔案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3"/>
          </p:nvPr>
        </p:nvSpPr>
        <p:spPr>
          <a:xfrm>
            <a:off x="371475" y="2367092"/>
            <a:ext cx="11449050" cy="398925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放在「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資料夾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」內並打包成「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壓縮檔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」（檔名－學號）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資料夾內需包含：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AutoNum type="circleNumWdWhitePlain"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三題的程式碼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AutoNum type="circleNumWdWhitePlain"/>
            </a:pPr>
            <a:r>
              <a:rPr lang="zh-TW" altLang="en-US" sz="2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題目要求的執行結果截圖</a:t>
            </a:r>
            <a:endParaRPr lang="en-US" altLang="zh-TW" sz="2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練習繳交截止時間：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2025/11/12 23:59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逾期不收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BC42-115C-434A-A5A4-6B7E99A71104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9575441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4157</TotalTime>
  <Words>634</Words>
  <Application>Microsoft Office PowerPoint</Application>
  <PresentationFormat>寬螢幕</PresentationFormat>
  <Paragraphs>83</Paragraphs>
  <Slides>25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2" baseType="lpstr">
      <vt:lpstr>標楷體</vt:lpstr>
      <vt:lpstr>Arial</vt:lpstr>
      <vt:lpstr>Calibri</vt:lpstr>
      <vt:lpstr>Times New Roman</vt:lpstr>
      <vt:lpstr>Tw Cen MT</vt:lpstr>
      <vt:lpstr>Wingdings</vt:lpstr>
      <vt:lpstr>小水滴</vt:lpstr>
      <vt:lpstr>LAB 5 - Open Cloud APIs in RapidAPI</vt:lpstr>
      <vt:lpstr>What is Cloud API?</vt:lpstr>
      <vt:lpstr>Why choose Cloud API?</vt:lpstr>
      <vt:lpstr>How to use?</vt:lpstr>
      <vt:lpstr>How to use?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建立專案</vt:lpstr>
      <vt:lpstr>PowerPoint 簡報</vt:lpstr>
      <vt:lpstr>PowerPoint 簡報</vt:lpstr>
      <vt:lpstr>匯入 Library</vt:lpstr>
      <vt:lpstr>練習</vt:lpstr>
      <vt:lpstr>Try It GeoDB Cities </vt:lpstr>
      <vt:lpstr>Try It GeoDB Cities</vt:lpstr>
      <vt:lpstr>Try It WeatherAPI</vt:lpstr>
      <vt:lpstr>Try It WeatherAPI</vt:lpstr>
      <vt:lpstr>Try It Quotes</vt:lpstr>
      <vt:lpstr>Try It Quotes</vt:lpstr>
      <vt:lpstr>練習</vt:lpstr>
      <vt:lpstr>練習</vt:lpstr>
      <vt:lpstr>*練習繳交檔案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6 - Cloud API</dc:title>
  <dc:creator>JaiJun Weng</dc:creator>
  <cp:lastModifiedBy>盧展庭</cp:lastModifiedBy>
  <cp:revision>242</cp:revision>
  <dcterms:created xsi:type="dcterms:W3CDTF">2019-12-02T13:15:48Z</dcterms:created>
  <dcterms:modified xsi:type="dcterms:W3CDTF">2025-11-05T05:21:32Z</dcterms:modified>
</cp:coreProperties>
</file>